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3C7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84048" y="310896"/>
            <a:ext cx="11420856" cy="6236208"/>
          </a:xfrm>
          <a:prstGeom prst="rect">
            <a:avLst/>
          </a:prstGeom>
          <a:solidFill>
            <a:srgbClr val="C3C7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4048" y="310896"/>
            <a:ext cx="11420856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84048" y="310896"/>
            <a:ext cx="45720" cy="62362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4048" y="6501384"/>
            <a:ext cx="11420856" cy="45720"/>
          </a:xfrm>
          <a:prstGeom prst="rect">
            <a:avLst/>
          </a:prstGeom>
          <a:solidFill>
            <a:srgbClr val="6E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1759184" y="310896"/>
            <a:ext cx="45720" cy="6236208"/>
          </a:xfrm>
          <a:prstGeom prst="rect">
            <a:avLst/>
          </a:prstGeom>
          <a:solidFill>
            <a:srgbClr val="6E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29768" y="356616"/>
            <a:ext cx="11329416" cy="6144768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29768" y="356616"/>
            <a:ext cx="11329416" cy="420624"/>
          </a:xfrm>
          <a:prstGeom prst="rect">
            <a:avLst/>
          </a:prstGeom>
          <a:solidFill>
            <a:srgbClr val="1E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76072" y="457200"/>
            <a:ext cx="110368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1953 형제돼지국밥</a:t>
            </a:r>
          </a:p>
        </p:txBody>
      </p:sp>
      <p:pic>
        <p:nvPicPr>
          <p:cNvPr id="11" name="Picture 10" descr="s1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1051560"/>
            <a:ext cx="3226003" cy="46085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009376" y="1115568"/>
            <a:ext cx="155448" cy="155448"/>
          </a:xfrm>
          <a:prstGeom prst="rect">
            <a:avLst/>
          </a:prstGeom>
          <a:solidFill>
            <a:srgbClr val="1E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1219688" y="1115568"/>
            <a:ext cx="155448" cy="155448"/>
          </a:xfrm>
          <a:prstGeom prst="rect">
            <a:avLst/>
          </a:prstGeom>
          <a:solidFill>
            <a:srgbClr val="C3C7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13816" y="1823313"/>
            <a:ext cx="10561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1">
                <a:solidFill>
                  <a:srgbClr val="1A1F24"/>
                </a:solidFill>
                <a:latin typeface="맑은 고딕"/>
                <a:ea typeface="맑은 고딕"/>
                <a:cs typeface="맑은 고딕"/>
              </a:rPr>
              <a:t>매장 QR·공유 링크로 접속 → 틀린그림찾기 7단계 → 설문 → 카드 뽑기 → 쿠폰.</a:t>
            </a:r>
          </a:p>
          <a:p>
            <a:pPr>
              <a:lnSpc>
                <a:spcPct val="130000"/>
              </a:lnSpc>
            </a:pPr>
            <a:r>
              <a:rPr sz="1600" b="1">
                <a:solidFill>
                  <a:srgbClr val="1A1F24"/>
                </a:solidFill>
                <a:latin typeface="맑은 고딕"/>
                <a:ea typeface="맑은 고딕"/>
                <a:cs typeface="맑은 고딕"/>
              </a:rPr>
              <a:t>앱 설치 없이 브라우저에서, 가입 없이 익명으로.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" y="2659989"/>
            <a:ext cx="10625328" cy="32004"/>
          </a:xfrm>
          <a:prstGeom prst="rect">
            <a:avLst/>
          </a:prstGeom>
          <a:solidFill>
            <a:srgbClr val="6E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781812" y="2659989"/>
            <a:ext cx="32004" cy="2807208"/>
          </a:xfrm>
          <a:prstGeom prst="rect">
            <a:avLst/>
          </a:prstGeom>
          <a:solidFill>
            <a:srgbClr val="6E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81812" y="5435193"/>
            <a:ext cx="10625328" cy="320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1375136" y="2659989"/>
            <a:ext cx="32004" cy="28072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813816" y="2691993"/>
          <a:ext cx="1056132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882396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4E7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흐름</a:t>
                      </a:r>
                    </a:p>
                  </a:txBody>
                  <a:tcPr anchor="ctr" marL="128016" marR="128016" marT="27432" marB="27432">
                    <a:solidFill>
                      <a:srgbClr val="C3C7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약관 고지 → 로딩 → 튜토리얼 → 게임 7단계 → 결과·랭킹 → 설문 → 카드 뽑기 → 쿠폰 보관함</a:t>
                      </a:r>
                    </a:p>
                  </a:txBody>
                  <a:tcPr anchor="ctr" marL="128016" marR="128016" marT="27432" marB="27432">
                    <a:solidFill>
                      <a:srgbClr val="FBFB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4E7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 배선</a:t>
                      </a:r>
                    </a:p>
                  </a:txBody>
                  <a:tcPr anchor="ctr" marL="128016" marR="128016" marT="27432" marB="27432">
                    <a:solidFill>
                      <a:srgbClr val="C3C7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방문자 · 게임 시작 · 재도전 · 공유 참여/유입 · 설문 완료 · 쿠폰 발급 — 전부 대시보드로 연결</a:t>
                      </a:r>
                    </a:p>
                  </a:txBody>
                  <a:tcPr anchor="ctr" marL="128016" marR="128016" marT="27432" marB="27432">
                    <a:solidFill>
                      <a:srgbClr val="FBFB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4E7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다국어</a:t>
                      </a:r>
                    </a:p>
                  </a:txBody>
                  <a:tcPr anchor="ctr" marL="128016" marR="128016" marT="27432" marB="27432">
                    <a:solidFill>
                      <a:srgbClr val="C3C7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한국어 · 영어 · 일본어 · 중국어(간체) 4종</a:t>
                      </a:r>
                    </a:p>
                  </a:txBody>
                  <a:tcPr anchor="ctr" marL="128016" marR="128016" marT="27432" marB="27432">
                    <a:solidFill>
                      <a:srgbClr val="FBFB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4E7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쿠폰 2종</a:t>
                      </a:r>
                    </a:p>
                  </a:txBody>
                  <a:tcPr anchor="ctr" marL="128016" marR="128016" marT="27432" marB="27432">
                    <a:solidFill>
                      <a:srgbClr val="C3C7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매장 QR 쿠폰(스캐너 인식) / 온라인몰 코드 쿠폰(설문 응답 시 100% 지급)</a:t>
                      </a:r>
                    </a:p>
                  </a:txBody>
                  <a:tcPr anchor="ctr" marL="128016" marR="128016" marT="27432" marB="27432">
                    <a:solidFill>
                      <a:srgbClr val="FBFB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4E7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</a:t>
                      </a:r>
                    </a:p>
                  </a:txBody>
                  <a:tcPr anchor="ctr" marL="128016" marR="128016" marT="27432" marB="27432">
                    <a:solidFill>
                      <a:srgbClr val="C3C7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폰트·배경음악 최적화로 전송량 660KB 절감 · 게임 1판 이미지 합성 요청 14건 → 1건</a:t>
                      </a:r>
                    </a:p>
                  </a:txBody>
                  <a:tcPr anchor="ctr" marL="128016" marR="128016" marT="27432" marB="27432">
                    <a:solidFill>
                      <a:srgbClr val="FBFB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4E7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</a:t>
                      </a:r>
                    </a:p>
                  </a:txBody>
                  <a:tcPr anchor="ctr" marL="128016" marR="128016" marT="27432" marB="27432">
                    <a:solidFill>
                      <a:srgbClr val="C3C7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테스트 360건 전부 통과</a:t>
                      </a:r>
                    </a:p>
                  </a:txBody>
                  <a:tcPr anchor="ctr" marL="128016" marR="128016" marT="27432" marB="27432"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813816" y="576986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 b="0">
                <a:solidFill>
                  <a:srgbClr val="1A1F24"/>
                </a:solidFill>
                <a:latin typeface="맑은 고딕"/>
                <a:ea typeface="맑은 고딕"/>
                <a:cs typeface="맑은 고딕"/>
              </a:rPr>
              <a:t>* 660KB는 폰트·배경음악 기준입니다. 이후 시간대별 배경(장당 약 450KB)이 더해져 첫 화면은 그만큼 무거워졌습니다.</a:t>
            </a:r>
          </a:p>
          <a:p>
            <a:pPr>
              <a:lnSpc>
                <a:spcPct val="125000"/>
              </a:lnSpc>
            </a:pPr>
            <a:r>
              <a:rPr sz="1050" b="0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※ 화면과 연출은 시연으로 보여드립니다.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3C7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84048" y="310896"/>
            <a:ext cx="11420856" cy="6236208"/>
          </a:xfrm>
          <a:prstGeom prst="rect">
            <a:avLst/>
          </a:prstGeom>
          <a:solidFill>
            <a:srgbClr val="C3C7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4048" y="310896"/>
            <a:ext cx="11420856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84048" y="310896"/>
            <a:ext cx="45720" cy="62362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4048" y="6501384"/>
            <a:ext cx="11420856" cy="45720"/>
          </a:xfrm>
          <a:prstGeom prst="rect">
            <a:avLst/>
          </a:prstGeom>
          <a:solidFill>
            <a:srgbClr val="6E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1759184" y="310896"/>
            <a:ext cx="45720" cy="6236208"/>
          </a:xfrm>
          <a:prstGeom prst="rect">
            <a:avLst/>
          </a:prstGeom>
          <a:solidFill>
            <a:srgbClr val="6E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29768" y="356616"/>
            <a:ext cx="11329416" cy="6144768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29768" y="356616"/>
            <a:ext cx="11329416" cy="420624"/>
          </a:xfrm>
          <a:prstGeom prst="rect">
            <a:avLst/>
          </a:prstGeom>
          <a:solidFill>
            <a:srgbClr val="1E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76072" y="457200"/>
            <a:ext cx="110368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1953 형제돼지국밥</a:t>
            </a:r>
          </a:p>
        </p:txBody>
      </p:sp>
      <p:pic>
        <p:nvPicPr>
          <p:cNvPr id="11" name="Picture 10" descr="s2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1051560"/>
            <a:ext cx="3878884" cy="46085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009376" y="1115568"/>
            <a:ext cx="155448" cy="155448"/>
          </a:xfrm>
          <a:prstGeom prst="rect">
            <a:avLst/>
          </a:prstGeom>
          <a:solidFill>
            <a:srgbClr val="C3C7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1219688" y="1115568"/>
            <a:ext cx="155448" cy="155448"/>
          </a:xfrm>
          <a:prstGeom prst="rect">
            <a:avLst/>
          </a:prstGeom>
          <a:solidFill>
            <a:srgbClr val="1E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13816" y="1841601"/>
            <a:ext cx="10561320" cy="4202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E4E7A"/>
                </a:solidFill>
                <a:latin typeface="맑은 고딕"/>
                <a:ea typeface="맑은 고딕"/>
                <a:cs typeface="맑은 고딕"/>
              </a:rPr>
              <a:t>배포 전 회사 회신이 필요합니다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sz="1200" b="1">
                <a:solidFill>
                  <a:srgbClr val="1E4E7A"/>
                </a:solidFill>
                <a:latin typeface="맑은 고딕"/>
                <a:ea typeface="맑은 고딕"/>
                <a:cs typeface="맑은 고딕"/>
              </a:rPr>
              <a:t>    1. </a:t>
            </a:r>
            <a:r>
              <a:rPr sz="1200" b="0">
                <a:solidFill>
                  <a:srgbClr val="1A1F24"/>
                </a:solidFill>
                <a:latin typeface="맑은 고딕"/>
                <a:ea typeface="맑은 고딕"/>
                <a:cs typeface="맑은 고딕"/>
              </a:rPr>
              <a:t>법률 문서 자리표시자 5개 — 개인정보 보호담당자 · 대표 연락처 · 이메일 · 전화번호 · 시행일 (국문·영문 양쪽)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200" b="1">
                <a:solidFill>
                  <a:srgbClr val="1E4E7A"/>
                </a:solidFill>
                <a:latin typeface="맑은 고딕"/>
                <a:ea typeface="맑은 고딕"/>
                <a:cs typeface="맑은 고딕"/>
              </a:rPr>
              <a:t>    2. </a:t>
            </a:r>
            <a:r>
              <a:rPr sz="1200" b="0">
                <a:solidFill>
                  <a:srgbClr val="1A1F24"/>
                </a:solidFill>
                <a:latin typeface="맑은 고딕"/>
                <a:ea typeface="맑은 고딕"/>
                <a:cs typeface="맑은 고딕"/>
              </a:rPr>
              <a:t>이용약관 3조가 '룰렛'으로 적혀 있으나 실제 구현은 카드 뒤집기입니다 — 문구 수정 여부 확인 부탁드립니다.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200" b="1">
                <a:solidFill>
                  <a:srgbClr val="1E4E7A"/>
                </a:solidFill>
                <a:latin typeface="맑은 고딕"/>
                <a:ea typeface="맑은 고딕"/>
                <a:cs typeface="맑은 고딕"/>
              </a:rPr>
              <a:t>    3. </a:t>
            </a:r>
            <a:r>
              <a:rPr sz="1200" b="0">
                <a:solidFill>
                  <a:srgbClr val="1A1F24"/>
                </a:solidFill>
                <a:latin typeface="맑은 고딕"/>
                <a:ea typeface="맑은 고딕"/>
                <a:cs typeface="맑은 고딕"/>
              </a:rPr>
              <a:t>중국어 원어민 감수 — 홍보 문구·개인정보 안내는 번역기 대조 수준입니다. 대외 배포 전 검수 필요.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200" b="1">
                <a:solidFill>
                  <a:srgbClr val="1E4E7A"/>
                </a:solidFill>
                <a:latin typeface="맑은 고딕"/>
                <a:ea typeface="맑은 고딕"/>
                <a:cs typeface="맑은 고딕"/>
              </a:rPr>
              <a:t>    4. </a:t>
            </a:r>
            <a:r>
              <a:rPr sz="1200" b="0">
                <a:solidFill>
                  <a:srgbClr val="1A1F24"/>
                </a:solidFill>
                <a:latin typeface="맑은 고딕"/>
                <a:ea typeface="맑은 고딕"/>
                <a:cs typeface="맑은 고딕"/>
              </a:rPr>
              <a:t>설문 안내 문구 확정 — '1회만 참여 가능'·'게임 성공 여부와 무관' 고지를 넣을지 회신 대기 중입니다.</a:t>
            </a:r>
          </a:p>
          <a:p>
            <a:pPr>
              <a:lnSpc>
                <a:spcPct val="130000"/>
              </a:lnSpc>
              <a:spcBef>
                <a:spcPts val="1300"/>
              </a:spcBef>
              <a:spcAft>
                <a:spcPts val="500"/>
              </a:spcAft>
            </a:pPr>
            <a:r>
              <a:rPr sz="1400" b="1">
                <a:solidFill>
                  <a:srgbClr val="1A1F24"/>
                </a:solidFill>
                <a:latin typeface="맑은 고딕"/>
                <a:ea typeface="맑은 고딕"/>
                <a:cs typeface="맑은 고딕"/>
              </a:rPr>
              <a:t>서버·DB 연동 대기 — 클라이언트는 완료, 데이터만 채우면 반영됩니다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sz="1200" b="1">
                <a:solidFill>
                  <a:srgbClr val="1E4E7A"/>
                </a:solidFill>
                <a:latin typeface="맑은 고딕"/>
                <a:ea typeface="맑은 고딕"/>
                <a:cs typeface="맑은 고딕"/>
              </a:rPr>
              <a:t>    ■ </a:t>
            </a:r>
            <a:r>
              <a:rPr sz="1200" b="0">
                <a:solidFill>
                  <a:srgbClr val="1A1F24"/>
                </a:solidFill>
                <a:latin typeface="맑은 고딕"/>
                <a:ea typeface="맑은 고딕"/>
                <a:cs typeface="맑은 고딕"/>
              </a:rPr>
              <a:t>닉네임 영어·일본어 번역 일부 누락 → 현재는 한국어로 표시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200" b="1">
                <a:solidFill>
                  <a:srgbClr val="1E4E7A"/>
                </a:solidFill>
                <a:latin typeface="맑은 고딕"/>
                <a:ea typeface="맑은 고딕"/>
                <a:cs typeface="맑은 고딕"/>
              </a:rPr>
              <a:t>    ■ </a:t>
            </a:r>
            <a:r>
              <a:rPr sz="1200" b="0">
                <a:solidFill>
                  <a:srgbClr val="1A1F24"/>
                </a:solidFill>
                <a:latin typeface="맑은 고딕"/>
                <a:ea typeface="맑은 고딕"/>
                <a:cs typeface="맑은 고딕"/>
              </a:rPr>
              <a:t>뽑기 잔여 횟수 조회 경로 → 확보되면 안내 표시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200" b="1">
                <a:solidFill>
                  <a:srgbClr val="1E4E7A"/>
                </a:solidFill>
                <a:latin typeface="맑은 고딕"/>
                <a:ea typeface="맑은 고딕"/>
                <a:cs typeface="맑은 고딕"/>
              </a:rPr>
              <a:t>    ■ </a:t>
            </a:r>
            <a:r>
              <a:rPr sz="1200" b="0">
                <a:solidFill>
                  <a:srgbClr val="1A1F24"/>
                </a:solidFill>
                <a:latin typeface="맑은 고딕"/>
                <a:ea typeface="맑은 고딕"/>
                <a:cs typeface="맑은 고딕"/>
              </a:rPr>
              <a:t>매장 스캐너의 중국어 안내문 등록 여부</a:t>
            </a:r>
          </a:p>
          <a:p>
            <a:pPr>
              <a:lnSpc>
                <a:spcPct val="130000"/>
              </a:lnSpc>
              <a:spcBef>
                <a:spcPts val="1300"/>
              </a:spcBef>
              <a:spcAft>
                <a:spcPts val="500"/>
              </a:spcAft>
            </a:pPr>
            <a:r>
              <a:rPr sz="1400" b="1">
                <a:solidFill>
                  <a:srgbClr val="1A1F24"/>
                </a:solidFill>
                <a:latin typeface="맑은 고딕"/>
                <a:ea typeface="맑은 고딕"/>
                <a:cs typeface="맑은 고딕"/>
              </a:rPr>
              <a:t>실기 검증 남은 항목 — 개발 PC에서 재현 불가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sz="1200" b="1">
                <a:solidFill>
                  <a:srgbClr val="1E4E7A"/>
                </a:solidFill>
                <a:latin typeface="맑은 고딕"/>
                <a:ea typeface="맑은 고딕"/>
                <a:cs typeface="맑은 고딕"/>
              </a:rPr>
              <a:t>    ■ </a:t>
            </a:r>
            <a:r>
              <a:rPr sz="1200" b="0">
                <a:solidFill>
                  <a:srgbClr val="1A1F24"/>
                </a:solidFill>
                <a:latin typeface="맑은 고딕"/>
                <a:ea typeface="맑은 고딕"/>
                <a:cs typeface="맑은 고딕"/>
              </a:rPr>
              <a:t>화면 높이(iOS Firefox · Android 각 브라우저) · 배경음악과 음소거 토글 · 중국어 폰트 표시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5998464"/>
            <a:ext cx="10561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50" b="0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게임 클라이언트 · 2026-08-17 기준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